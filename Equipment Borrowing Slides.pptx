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the domain (equipment borrowing at Makerere colleges) and who leads which slides. Replace the [Name] placeholders with the five member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domain is equipment borrowing at Makerere colleges. We kept it small: approving a borrowing, then checking out its equipment. We left out money, because no fee is paid for late returns, and we left out applying suspensions, a user interface and 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rules in order and name the concept each leads to: BR1 Value Object, BR2 Entity, BR3 Aggregate, BR4 Domain Service, BR5 Domain Event, BR6 Repository and Application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used: does it matter which exact one it is? For a borrow period it does not, so it is a Value Object. For a borrowing or a projector it does, so they are Entities with IDs. Borrowing carries the BR2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Borrowing is the root of Aggregate A and protects BR3. Equipment is the root of Aggregate B and protects its own rule: only Available equipment can be checked out. They are separate so neither can break the other's rule; the event is the only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BR4 needs two facts from different places: dates from the borrowing and the weight from the equipment category. Putting it on either would make that object know about the other, so it is a domain service. We did not use a factory because creation has no extra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repository per aggregate root. The abstractions are in Application, the dictionary-based versions in Infrastructure. Value objects and the domain service have no repositories because they are not aggregate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Domain holds all business rules and imports nothing. Application holds the use case, DTOs and repository interfaces and depends only on Domain. Infrastructure implements those interfaces and depends on Application and Domain. Interface is main.py, which wires everything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only coordinates: lookup, call the aggregate, save, dispatch, respond. Rules stay in the aggregates. DTOs keep domain objects away from the interface, and everything the service depends on is injected from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67" y="457150"/>
            <a:ext cx="10566466" cy="391170"/>
          </a:xfrm>
          <a:prstGeom prst="rect">
            <a:avLst/>
          </a:prstGeom>
          <a:noFill/>
        </p:spPr>
        <p:txBody>
          <a:bodyPr wrap="square" lIns="0" tIns="0" rIns="0" bIns="0" rtlCol="0" anchor="t"/>
          <a:lstStyle>
            <a:lvl1pPr marL="0" indent="0" algn="l">
              <a:lnSpc>
                <a:spcPct val="115000"/>
              </a:lnSpc>
              <a:buNone/>
              <a:defRPr lang="en-US" sz="2800" dirty="0">
                <a:solidFill>
                  <a:srgbClr val="000000"/>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2800" dirty="0"/>
          </a:p>
        </p:txBody>
      </p:sp>
      <p:sp>
        <p:nvSpPr>
          <p:cNvPr id="3" name="Text Placeholder 2"/>
          <p:cNvSpPr/>
          <p:nvPr>
            <p:ph type="body" idx="101"/>
          </p:nvPr>
        </p:nvSpPr>
        <p:spPr>
          <a:xfrm>
            <a:off x="812767" y="1153120"/>
            <a:ext cx="10566433" cy="4892080"/>
          </a:xfrm>
          <a:prstGeom prst="rect">
            <a:avLst/>
          </a:prstGeom>
          <a:noFill/>
        </p:spPr>
        <p:txBody>
          <a:bodyPr wrap="square" lIns="0" tIns="0" rIns="0" bIns="0" rtlCol="0" anchor="t"/>
          <a:lstStyle>
            <a:lvl1pPr marL="0" indent="0" algn="l">
              <a:lnSpc>
                <a:spcPct val="140000"/>
              </a:lnSpc>
              <a:buNone/>
              <a:defRPr lang="en-US" sz="1600" dirty="0">
                <a:solidFill>
                  <a:srgbClr val="000000"/>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67" y="457150"/>
            <a:ext cx="10566466" cy="391170"/>
          </a:xfrm>
          <a:prstGeom prst="rect">
            <a:avLst/>
          </a:prstGeom>
          <a:noFill/>
        </p:spPr>
        <p:txBody>
          <a:bodyPr wrap="square" lIns="0" tIns="0" rIns="0" bIns="0" rtlCol="0" anchor="t"/>
          <a:lstStyle>
            <a:lvl1pPr marL="0" indent="0" algn="l">
              <a:lnSpc>
                <a:spcPct val="115000"/>
              </a:lnSpc>
              <a:buNone/>
              <a:defRPr lang="en-US" sz="2800" dirty="0">
                <a:solidFill>
                  <a:srgbClr val="000000"/>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2800" dirty="0"/>
          </a:p>
        </p:txBody>
      </p:sp>
      <p:sp>
        <p:nvSpPr>
          <p:cNvPr id="3" name="Text Placeholder 2"/>
          <p:cNvSpPr/>
          <p:nvPr>
            <p:ph type="body" idx="101"/>
          </p:nvPr>
        </p:nvSpPr>
        <p:spPr>
          <a:xfrm>
            <a:off x="812767" y="1153120"/>
            <a:ext cx="10566433" cy="4892080"/>
          </a:xfrm>
          <a:prstGeom prst="rect">
            <a:avLst/>
          </a:prstGeom>
          <a:noFill/>
        </p:spPr>
        <p:txBody>
          <a:bodyPr wrap="square" lIns="0" tIns="0" rIns="0" bIns="0" rtlCol="0" anchor="t"/>
          <a:lstStyle>
            <a:lvl1pPr marL="0" indent="0" algn="l">
              <a:lnSpc>
                <a:spcPct val="140000"/>
              </a:lnSpc>
              <a:buNone/>
              <a:defRPr lang="en-US" sz="1600" dirty="0">
                <a:solidFill>
                  <a:srgbClr val="000000"/>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639977"/>
          </a:xfrm>
          <a:prstGeom prst="rect">
            <a:avLst/>
          </a:prstGeom>
          <a:noFill/>
        </p:spPr>
        <p:txBody>
          <a:bodyPr wrap="square" lIns="0" tIns="0" rIns="0" bIns="0" rtlCol="0" anchor="t">
            <a:normAutofit/>
          </a:bodyPr>
          <a:lstStyle/>
          <a:p>
            <a:pPr marL="0" indent="0" algn="l">
              <a:lnSpc>
                <a:spcPts val="4840"/>
              </a:lnSpc>
              <a:buNone/>
            </a:pPr>
            <a:r>
              <a:rPr lang="en-US" sz="4400" b="1" i="0" dirty="0">
                <a:solidFill>
                  <a:srgbClr val="000000"/>
                </a:solidFill>
                <a:latin typeface="Arial" panose="020B0604020202020204" pitchFamily="34" charset="0"/>
                <a:ea typeface="Arial" panose="020B0604020202020204" pitchFamily="34" charset="-122"/>
                <a:cs typeface="Arial" panose="020B0604020202020204" pitchFamily="34" charset="-120"/>
              </a:rPr>
              <a:t>EQIPMENT BORROWING</a:t>
            </a:r>
            <a:endParaRPr lang="en-US" sz="4400" dirty="0"/>
          </a:p>
        </p:txBody>
      </p:sp>
      <p:sp>
        <p:nvSpPr>
          <p:cNvPr id="3" name="Text 1"/>
          <p:cNvSpPr/>
          <p:nvPr/>
        </p:nvSpPr>
        <p:spPr>
          <a:xfrm>
            <a:off x="812767" y="1224111"/>
            <a:ext cx="10883460" cy="380934"/>
          </a:xfrm>
          <a:prstGeom prst="rect">
            <a:avLst/>
          </a:prstGeom>
          <a:noFill/>
        </p:spPr>
        <p:txBody>
          <a:bodyPr wrap="square" lIns="0" tIns="0" rIns="0" bIns="0" rtlCol="0" anchor="t">
            <a:normAutofit/>
          </a:bodyPr>
          <a:lstStyle/>
          <a:p>
            <a:pPr marL="0" indent="0" algn="l">
              <a:lnSpc>
                <a:spcPts val="2800"/>
              </a:lnSpc>
              <a:buNone/>
            </a:pPr>
            <a:r>
              <a:rPr lang="en-US" sz="2000" dirty="0">
                <a:solidFill>
                  <a:srgbClr val="000000"/>
                </a:solidFill>
                <a:latin typeface="Arial" panose="020B0604020202020204" pitchFamily="34" charset="0"/>
                <a:ea typeface="Arial" panose="020B0604020202020204" pitchFamily="34" charset="-122"/>
                <a:cs typeface="Arial" panose="020B0604020202020204" pitchFamily="34" charset="-120"/>
              </a:rPr>
              <a:t>Domain-Driven Design, TDD and Clean Architecture</a:t>
            </a:r>
            <a:endParaRPr lang="en-US" sz="2000" dirty="0"/>
          </a:p>
        </p:txBody>
      </p:sp>
      <p:sp>
        <p:nvSpPr>
          <p:cNvPr id="4" name="Text 2"/>
          <p:cNvSpPr/>
          <p:nvPr/>
        </p:nvSpPr>
        <p:spPr>
          <a:xfrm>
            <a:off x="812767" y="1732029"/>
            <a:ext cx="10883460" cy="274274"/>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Group Coursework | Department of Networks, School of Computing and Informatics Technology, Makerere University</a:t>
            </a:r>
            <a:endParaRPr lang="en-US" sz="1400" dirty="0"/>
          </a:p>
        </p:txBody>
      </p:sp>
      <p:sp>
        <p:nvSpPr>
          <p:cNvPr id="5" name="Text 3"/>
          <p:cNvSpPr/>
          <p:nvPr/>
        </p:nvSpPr>
        <p:spPr>
          <a:xfrm>
            <a:off x="812767" y="2133286"/>
            <a:ext cx="10883460" cy="274274"/>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Instructor: Kasozi W. Vincent</a:t>
            </a:r>
            <a:endParaRPr lang="en-US" sz="1400" dirty="0"/>
          </a:p>
        </p:txBody>
      </p:sp>
      <p:graphicFrame>
        <p:nvGraphicFramePr>
          <p:cNvPr id="6" name="Table 0"/>
          <p:cNvGraphicFramePr>
            <a:graphicFrameLocks noGrp="1"/>
          </p:cNvGraphicFramePr>
          <p:nvPr/>
        </p:nvGraphicFramePr>
        <p:xfrm>
          <a:off x="823350" y="2545126"/>
          <a:ext cx="10555883" cy="2302867"/>
        </p:xfrm>
        <a:graphic>
          <a:graphicData uri="http://schemas.openxmlformats.org/drawingml/2006/table">
            <a:tbl>
              <a:tblPr/>
              <a:tblGrid>
                <a:gridCol w="4222353"/>
                <a:gridCol w="4222353"/>
                <a:gridCol w="2111177"/>
              </a:tblGrid>
              <a:tr h="383811">
                <a:tc>
                  <a:txBody>
                    <a:bodyPr/>
                    <a:lstStyle/>
                    <a:p>
                      <a:pPr marL="0" indent="0">
                        <a:lnSpc>
                          <a:spcPts val="1960"/>
                        </a:lnSpc>
                        <a:buNone/>
                      </a:pPr>
                      <a:r>
                        <a:rPr lang="en-US" sz="1400" b="1" dirty="0">
                          <a:solidFill>
                            <a:srgbClr val="000000"/>
                          </a:solidFill>
                          <a:latin typeface="Arial" panose="020B0604020202020204" pitchFamily="34" charset="0"/>
                          <a:ea typeface="Arial" panose="020B0604020202020204" pitchFamily="34" charset="-122"/>
                          <a:cs typeface="Arial" panose="020B0604020202020204" pitchFamily="34" charset="-120"/>
                        </a:rPr>
                        <a:t>Member</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000000"/>
                          </a:solidFill>
                          <a:latin typeface="Arial" panose="020B0604020202020204" pitchFamily="34" charset="0"/>
                          <a:ea typeface="Arial" panose="020B0604020202020204" pitchFamily="34" charset="-122"/>
                          <a:cs typeface="Arial" panose="020B0604020202020204" pitchFamily="34" charset="-120"/>
                        </a:rPr>
                        <a:t>Role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000000"/>
                          </a:solidFill>
                          <a:latin typeface="Arial" panose="020B0604020202020204" pitchFamily="34" charset="0"/>
                          <a:ea typeface="Arial" panose="020B0604020202020204" pitchFamily="34" charset="-122"/>
                          <a:cs typeface="Arial" panose="020B0604020202020204" pitchFamily="34" charset="-120"/>
                        </a:rPr>
                        <a:t>Leads slides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811">
                <a:tc>
                  <a:txBody>
                    <a:bodyPr/>
                    <a:lstStyle/>
                    <a:p>
                      <a:pPr marL="0" indent="0">
                        <a:lnSpc>
                          <a:spcPts val="1960"/>
                        </a:lnSpc>
                        <a:buNone/>
                      </a:pPr>
                      <a:r>
                        <a:rPr lang="en-US" sz="1400" dirty="0">
                          <a:latin typeface="Arial" panose="020B0604020202020204" pitchFamily="34" charset="0"/>
                          <a:ea typeface="Arial" panose="020B0604020202020204" pitchFamily="34" charset="0"/>
                          <a:cs typeface="Arial" panose="020B0604020202020204" pitchFamily="34" charset="0"/>
                        </a:rPr>
                        <a:t>PRISCILLA</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Domain Lead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1-3</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AISHA</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Domain Model Lead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4-6</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HOUSNAH</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Architecture Lead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7-9</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SAMSON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Testing Lead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11-12</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SAMSON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Integration Lead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10, 13-15</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Box 6"/>
          <p:cNvSpPr txBox="1"/>
          <p:nvPr/>
        </p:nvSpPr>
        <p:spPr>
          <a:xfrm>
            <a:off x="238760" y="859790"/>
            <a:ext cx="4064000" cy="368300"/>
          </a:xfrm>
          <a:prstGeom prst="rect">
            <a:avLst/>
          </a:prstGeom>
          <a:noFill/>
        </p:spPr>
        <p:txBody>
          <a:bodyPr wrap="squar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Problem, scope, exclusions and key terms</a:t>
            </a:r>
            <a:endParaRPr lang="en-US" sz="2800" dirty="0"/>
          </a:p>
        </p:txBody>
      </p:sp>
      <p:sp>
        <p:nvSpPr>
          <p:cNvPr id="3" name="Text 1"/>
          <p:cNvSpPr/>
          <p:nvPr/>
        </p:nvSpPr>
        <p:spPr>
          <a:xfrm>
            <a:off x="812767" y="1026087"/>
            <a:ext cx="5284775"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Problem</a:t>
            </a:r>
            <a:endParaRPr lang="en-US" sz="1700" dirty="0"/>
          </a:p>
        </p:txBody>
      </p:sp>
      <p:sp>
        <p:nvSpPr>
          <p:cNvPr id="4" name="Text 2"/>
          <p:cNvSpPr/>
          <p:nvPr/>
        </p:nvSpPr>
        <p:spPr>
          <a:xfrm>
            <a:off x="812767" y="1361281"/>
            <a:ext cx="5284775" cy="949788"/>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Duirng Lecturers at Makerere colleges class represenattives borrow equipment such as projectors, HDMI cables and markers for classes. Without clear rules, a borrowing can be approved twice, hold too many items, or be approved for equipment that is under repair.</a:t>
            </a:r>
            <a:endParaRPr lang="en-US" sz="1300" dirty="0"/>
          </a:p>
        </p:txBody>
      </p:sp>
      <p:sp>
        <p:nvSpPr>
          <p:cNvPr id="5" name="Text 3"/>
          <p:cNvSpPr/>
          <p:nvPr/>
        </p:nvSpPr>
        <p:spPr>
          <a:xfrm>
            <a:off x="812767" y="2361819"/>
            <a:ext cx="5284775"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In scope</a:t>
            </a:r>
            <a:endParaRPr lang="en-US" sz="1700" dirty="0"/>
          </a:p>
        </p:txBody>
      </p:sp>
      <p:sp>
        <p:nvSpPr>
          <p:cNvPr id="6" name="Text 4"/>
          <p:cNvSpPr/>
          <p:nvPr/>
        </p:nvSpPr>
        <p:spPr>
          <a:xfrm>
            <a:off x="910811" y="2697014"/>
            <a:ext cx="5179111" cy="718691"/>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Approve a borrowing (main use case)</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Check out its equipment as a follow-up</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Supporting rules: period, lifecycle, contents, late penalty</a:t>
            </a:r>
            <a:endParaRPr lang="en-US" sz="1300" dirty="0"/>
          </a:p>
        </p:txBody>
      </p:sp>
      <p:sp>
        <p:nvSpPr>
          <p:cNvPr id="7" name="Text 5"/>
          <p:cNvSpPr/>
          <p:nvPr/>
        </p:nvSpPr>
        <p:spPr>
          <a:xfrm>
            <a:off x="812767" y="3466455"/>
            <a:ext cx="5284775"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Out of scope</a:t>
            </a:r>
            <a:endParaRPr lang="en-US" sz="1700" dirty="0"/>
          </a:p>
        </p:txBody>
      </p:sp>
      <p:sp>
        <p:nvSpPr>
          <p:cNvPr id="8" name="Text 6"/>
          <p:cNvSpPr/>
          <p:nvPr/>
        </p:nvSpPr>
        <p:spPr>
          <a:xfrm>
            <a:off x="910811" y="3801649"/>
            <a:ext cx="5179111" cy="718691"/>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Money (no fee is paid for late returns)</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Applying a suspension to a borrower</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Web interface, database, deployment</a:t>
            </a:r>
            <a:endParaRPr lang="en-US" sz="1300" dirty="0"/>
          </a:p>
        </p:txBody>
      </p:sp>
      <p:sp>
        <p:nvSpPr>
          <p:cNvPr id="9" name="Text 7"/>
          <p:cNvSpPr/>
          <p:nvPr/>
        </p:nvSpPr>
        <p:spPr>
          <a:xfrm>
            <a:off x="6248383" y="1026087"/>
            <a:ext cx="5284775"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Key terms</a:t>
            </a:r>
            <a:endParaRPr lang="en-US" sz="1700" dirty="0"/>
          </a:p>
        </p:txBody>
      </p:sp>
      <p:graphicFrame>
        <p:nvGraphicFramePr>
          <p:cNvPr id="10" name="Table 0"/>
          <p:cNvGraphicFramePr>
            <a:graphicFrameLocks noGrp="1"/>
          </p:cNvGraphicFramePr>
          <p:nvPr/>
        </p:nvGraphicFramePr>
        <p:xfrm>
          <a:off x="6258967" y="1371865"/>
          <a:ext cx="5120266" cy="3380548"/>
        </p:xfrm>
        <a:graphic>
          <a:graphicData uri="http://schemas.openxmlformats.org/drawingml/2006/table">
            <a:tbl>
              <a:tblPr/>
              <a:tblGrid>
                <a:gridCol w="1638485"/>
                <a:gridCol w="3481781"/>
              </a:tblGrid>
              <a:tr h="330564">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Term</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Meaning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 request to borrow one to three equipment items for a period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Equipment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One specific physical item, such as one projector</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Category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Type of equipment (projector, HDMI cable, markers); sets its suspension weight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56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 period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The start and end dates of a borrowing</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Check-out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Marking equipment as taken so no one else can borrow it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Suspension days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Penalty for a late return: days late × category weight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Business rules BR1-BR6</a:t>
            </a:r>
            <a:endParaRPr lang="en-US" sz="2800" dirty="0"/>
          </a:p>
        </p:txBody>
      </p:sp>
      <p:graphicFrame>
        <p:nvGraphicFramePr>
          <p:cNvPr id="3" name="Table 0"/>
          <p:cNvGraphicFramePr>
            <a:graphicFrameLocks noGrp="1"/>
          </p:cNvGraphicFramePr>
          <p:nvPr/>
        </p:nvGraphicFramePr>
        <p:xfrm>
          <a:off x="823350" y="1011287"/>
          <a:ext cx="10555883" cy="3807189"/>
        </p:xfrm>
        <a:graphic>
          <a:graphicData uri="http://schemas.openxmlformats.org/drawingml/2006/table">
            <a:tbl>
              <a:tblPr/>
              <a:tblGrid>
                <a:gridCol w="1477824"/>
                <a:gridCol w="3589000"/>
                <a:gridCol w="2533412"/>
                <a:gridCol w="2955647"/>
              </a:tblGrid>
              <a:tr h="330564">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Statement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Responsible component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Violation outcome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BR1 Value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 borrow period lasts 1-14 days; its end falls after its start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BorrowPeriod (value object)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Throws InvalidBorrowPeriod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BR2 State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 borrowing moves only Requested, Approved, Returned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 (aggregate root)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Throws InvalidBorrowState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56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BR3 Invariant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 borrowing holds 1-3 distinct equipment items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 (aggregate root)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Throws InvalidBorrowingContents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BR4 Cross-concept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Suspension days = days late × category weight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LateReturnPolicy (domain service)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Throws UnknownEquipmentCategory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970525">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BR5 Follow-up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After approval, the equipment must be checked out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BorrowingApproved event and handler; Equipment enforces availability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Equipment throws EquipmentNotAvailable; outcome APPROVED_BUT_CHECKOUT_FAILED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BR6 Lookup rule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 borrowing must exist before it can be approved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BorrowingRepository and ApproveBorrowingService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Returns BORROWING_NOT_FOUND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767" y="4970859"/>
            <a:ext cx="1088346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Domain objects throw exceptions; the application service converts them into outcomes.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Value Object and Entity choices</a:t>
            </a:r>
            <a:endParaRPr lang="en-US" sz="2800" dirty="0"/>
          </a:p>
        </p:txBody>
      </p:sp>
      <p:sp>
        <p:nvSpPr>
          <p:cNvPr id="3" name="Text 1"/>
          <p:cNvSpPr/>
          <p:nvPr/>
        </p:nvSpPr>
        <p:spPr>
          <a:xfrm>
            <a:off x="812767" y="1051471"/>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Value Object: BorrowPeriod (BR1)</a:t>
            </a:r>
            <a:endParaRPr lang="en-US" sz="1700" dirty="0"/>
          </a:p>
        </p:txBody>
      </p:sp>
      <p:sp>
        <p:nvSpPr>
          <p:cNvPr id="4" name="Text 2"/>
          <p:cNvSpPr/>
          <p:nvPr/>
        </p:nvSpPr>
        <p:spPr>
          <a:xfrm>
            <a:off x="910049" y="1412047"/>
            <a:ext cx="5153728" cy="1767516"/>
          </a:xfrm>
          <a:prstGeom prst="rect">
            <a:avLst/>
          </a:prstGeom>
          <a:noFill/>
        </p:spPr>
        <p:txBody>
          <a:bodyPr wrap="square" lIns="0" tIns="0" rIns="0" bIns="0" rtlCol="0" anchor="t">
            <a:normAutofit/>
          </a:bodyPr>
          <a:lstStyle/>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Holds a start date and an end date</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Valid only if it lasts 1-14 days and the end is after the start; otherwise it throws InvalidBorrowPeriod</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No separate identity: two periods with the same dates are interchangeable</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Immutable: changing a period means creating a new, validated one</a:t>
            </a:r>
            <a:endParaRPr lang="en-US" sz="1400" dirty="0"/>
          </a:p>
        </p:txBody>
      </p:sp>
      <p:sp>
        <p:nvSpPr>
          <p:cNvPr id="5" name="Text 3"/>
          <p:cNvSpPr/>
          <p:nvPr/>
        </p:nvSpPr>
        <p:spPr>
          <a:xfrm>
            <a:off x="6273767" y="1051471"/>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Entities (BR2)</a:t>
            </a:r>
            <a:endParaRPr lang="en-US" sz="1700" dirty="0"/>
          </a:p>
        </p:txBody>
      </p:sp>
      <p:graphicFrame>
        <p:nvGraphicFramePr>
          <p:cNvPr id="6" name="Table 0"/>
          <p:cNvGraphicFramePr>
            <a:graphicFrameLocks noGrp="1"/>
          </p:cNvGraphicFramePr>
          <p:nvPr/>
        </p:nvGraphicFramePr>
        <p:xfrm>
          <a:off x="6284350" y="1422630"/>
          <a:ext cx="5094883" cy="1533509"/>
        </p:xfrm>
        <a:graphic>
          <a:graphicData uri="http://schemas.openxmlformats.org/drawingml/2006/table">
            <a:tbl>
              <a:tblPr/>
              <a:tblGrid>
                <a:gridCol w="1222772"/>
                <a:gridCol w="1324669"/>
                <a:gridCol w="2547441"/>
              </a:tblGrid>
              <a:tr h="357105">
                <a:tc>
                  <a:txBody>
                    <a:bodyPr/>
                    <a:lstStyle/>
                    <a:p>
                      <a:pPr marL="0" indent="0">
                        <a:lnSpc>
                          <a:spcPts val="1820"/>
                        </a:lnSpc>
                        <a:buNone/>
                      </a:pPr>
                      <a:r>
                        <a:rPr lang="en-US" sz="1300" b="1" dirty="0">
                          <a:solidFill>
                            <a:srgbClr val="000000"/>
                          </a:solidFill>
                          <a:latin typeface="Arial" panose="020B0604020202020204" pitchFamily="34" charset="0"/>
                          <a:ea typeface="Arial" panose="020B0604020202020204" pitchFamily="34" charset="-122"/>
                          <a:cs typeface="Arial" panose="020B0604020202020204" pitchFamily="34" charset="-120"/>
                        </a:rPr>
                        <a:t>Entity</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000000"/>
                          </a:solidFill>
                          <a:latin typeface="Arial" panose="020B0604020202020204" pitchFamily="34" charset="0"/>
                          <a:ea typeface="Arial" panose="020B0604020202020204" pitchFamily="34" charset="-122"/>
                          <a:cs typeface="Arial" panose="020B0604020202020204" pitchFamily="34" charset="-120"/>
                        </a:rPr>
                        <a:t>Identity</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000000"/>
                          </a:solidFill>
                          <a:latin typeface="Arial" panose="020B0604020202020204" pitchFamily="34" charset="0"/>
                          <a:ea typeface="Arial" panose="020B0604020202020204" pitchFamily="34" charset="-122"/>
                          <a:cs typeface="Arial" panose="020B0604020202020204" pitchFamily="34" charset="-120"/>
                        </a:rPr>
                        <a:t>What changes</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88202">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Borrowing</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Borrowing ID</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Status: Requested, Approved, Returned (BR2)</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88202">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Equipment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Equipment ID</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Status: Available, Checked out, Under repair</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6273767" y="3057674"/>
            <a:ext cx="5258630" cy="523147"/>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Identity matters because the same borrowing or the same projector must be tracked as its state changes.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Aggregates A and B</a:t>
            </a:r>
            <a:endParaRPr lang="en-US" sz="2800" dirty="0"/>
          </a:p>
        </p:txBody>
      </p:sp>
      <p:graphicFrame>
        <p:nvGraphicFramePr>
          <p:cNvPr id="3" name="Table 0"/>
          <p:cNvGraphicFramePr>
            <a:graphicFrameLocks noGrp="1"/>
          </p:cNvGraphicFramePr>
          <p:nvPr/>
        </p:nvGraphicFramePr>
        <p:xfrm>
          <a:off x="823350" y="1062054"/>
          <a:ext cx="10555883" cy="1919056"/>
        </p:xfrm>
        <a:graphic>
          <a:graphicData uri="http://schemas.openxmlformats.org/drawingml/2006/table">
            <a:tbl>
              <a:tblPr/>
              <a:tblGrid>
                <a:gridCol w="2111177"/>
                <a:gridCol w="4222353"/>
                <a:gridCol w="4222353"/>
              </a:tblGrid>
              <a:tr h="383811">
                <a:tc>
                  <a:txBody>
                    <a:bodyPr/>
                    <a:lstStyle/>
                    <a:p>
                      <a:pPr marL="0" indent="0">
                        <a:lnSpc>
                          <a:spcPts val="1960"/>
                        </a:lnSpc>
                        <a:buNone/>
                      </a:pP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000000"/>
                          </a:solidFill>
                          <a:latin typeface="Arial" panose="020B0604020202020204" pitchFamily="34" charset="0"/>
                          <a:ea typeface="Arial" panose="020B0604020202020204" pitchFamily="34" charset="-122"/>
                          <a:cs typeface="Arial" panose="020B0604020202020204" pitchFamily="34" charset="-120"/>
                        </a:rPr>
                        <a:t>Aggregate A</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000000"/>
                          </a:solidFill>
                          <a:latin typeface="Arial" panose="020B0604020202020204" pitchFamily="34" charset="0"/>
                          <a:ea typeface="Arial" panose="020B0604020202020204" pitchFamily="34" charset="-122"/>
                          <a:cs typeface="Arial" panose="020B0604020202020204" pitchFamily="34" charset="-120"/>
                        </a:rPr>
                        <a:t>Aggregate B</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Root</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Borrowing</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Equipment</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Contents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BorrowPeriod and a list of equipment IDs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Its category and its status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Invariant protected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1-3 distinct items, never a duplicate (BR3)</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Can be checked out only when Available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Violation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InvalidBorrowingContents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EquipmentNotAvailable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910049" y="3184258"/>
            <a:ext cx="10778558" cy="772021"/>
          </a:xfrm>
          <a:prstGeom prst="rect">
            <a:avLst/>
          </a:prstGeom>
          <a:noFill/>
        </p:spPr>
        <p:txBody>
          <a:bodyPr wrap="square" lIns="0" tIns="0" rIns="0" bIns="0" rtlCol="0" anchor="t">
            <a:normAutofit/>
          </a:bodyPr>
          <a:lstStyle/>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All changes go through the root; outside code never edits the contents directly</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Borrowing refers to equipment by ID only, never by holding the Equipment object</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The two aggregates are linked only by the BorrowingApproved event (slide 10)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Domain Service and Factory decision</a:t>
            </a:r>
            <a:endParaRPr lang="en-US" sz="2800" dirty="0"/>
          </a:p>
        </p:txBody>
      </p:sp>
      <p:sp>
        <p:nvSpPr>
          <p:cNvPr id="3" name="Text 1"/>
          <p:cNvSpPr/>
          <p:nvPr/>
        </p:nvSpPr>
        <p:spPr>
          <a:xfrm>
            <a:off x="812767" y="1026086"/>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Domain Service: LateReturnPolicy (BR4)</a:t>
            </a:r>
            <a:endParaRPr lang="en-US" sz="1700" dirty="0"/>
          </a:p>
        </p:txBody>
      </p:sp>
      <p:sp>
        <p:nvSpPr>
          <p:cNvPr id="4" name="Text 2"/>
          <p:cNvSpPr/>
          <p:nvPr/>
        </p:nvSpPr>
        <p:spPr>
          <a:xfrm>
            <a:off x="812767" y="1374012"/>
            <a:ext cx="5258630" cy="48759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Suspension days = days late × category weight. Example: a projector returned 3 days late gives 3 × 2 = 6 suspension days.</a:t>
            </a:r>
            <a:endParaRPr lang="en-US" sz="1300" dirty="0"/>
          </a:p>
        </p:txBody>
      </p:sp>
      <p:graphicFrame>
        <p:nvGraphicFramePr>
          <p:cNvPr id="5" name="Table 0"/>
          <p:cNvGraphicFramePr>
            <a:graphicFrameLocks noGrp="1"/>
          </p:cNvGraphicFramePr>
          <p:nvPr/>
        </p:nvGraphicFramePr>
        <p:xfrm>
          <a:off x="823350" y="1935675"/>
          <a:ext cx="5094883" cy="1428420"/>
        </p:xfrm>
        <a:graphic>
          <a:graphicData uri="http://schemas.openxmlformats.org/drawingml/2006/table">
            <a:tbl>
              <a:tblPr/>
              <a:tblGrid>
                <a:gridCol w="3056930"/>
                <a:gridCol w="2037953"/>
              </a:tblGrid>
              <a:tr h="357105">
                <a:tc>
                  <a:txBody>
                    <a:bodyPr/>
                    <a:lstStyle/>
                    <a:p>
                      <a:pPr marL="0" indent="0">
                        <a:lnSpc>
                          <a:spcPts val="1820"/>
                        </a:lnSpc>
                        <a:buNone/>
                      </a:pPr>
                      <a:r>
                        <a:rPr lang="en-US" sz="1300" b="1" dirty="0">
                          <a:solidFill>
                            <a:srgbClr val="000000"/>
                          </a:solidFill>
                          <a:latin typeface="Arial" panose="020B0604020202020204" pitchFamily="34" charset="0"/>
                          <a:ea typeface="Arial" panose="020B0604020202020204" pitchFamily="34" charset="-122"/>
                          <a:cs typeface="Arial" panose="020B0604020202020204" pitchFamily="34" charset="-120"/>
                        </a:rPr>
                        <a:t>Category</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dirty="0">
                          <a:solidFill>
                            <a:srgbClr val="000000"/>
                          </a:solidFill>
                          <a:latin typeface="Arial" panose="020B0604020202020204" pitchFamily="34" charset="0"/>
                          <a:ea typeface="Arial" panose="020B0604020202020204" pitchFamily="34" charset="-122"/>
                          <a:cs typeface="Arial" panose="020B0604020202020204" pitchFamily="34" charset="-120"/>
                        </a:rPr>
                        <a:t>Weight</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105">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Projector</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2</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HDMI cable</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1</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Markers</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1</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910811" y="3452977"/>
            <a:ext cx="5152966" cy="949788"/>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Days late come from the borrowing; the weight comes from the equipment category, so the rule fits neither entity</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Stateless: it only calculates and does not apply the suspension</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Unknown category throws UnknownEquipmentCategory</a:t>
            </a:r>
            <a:endParaRPr lang="en-US" sz="1300" dirty="0"/>
          </a:p>
        </p:txBody>
      </p:sp>
      <p:sp>
        <p:nvSpPr>
          <p:cNvPr id="7" name="Text 4"/>
          <p:cNvSpPr/>
          <p:nvPr/>
        </p:nvSpPr>
        <p:spPr>
          <a:xfrm>
            <a:off x="6273767" y="1026086"/>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Factory: not used</a:t>
            </a:r>
            <a:endParaRPr lang="en-US" sz="1700" dirty="0"/>
          </a:p>
        </p:txBody>
      </p:sp>
      <p:sp>
        <p:nvSpPr>
          <p:cNvPr id="8" name="Text 5"/>
          <p:cNvSpPr/>
          <p:nvPr/>
        </p:nvSpPr>
        <p:spPr>
          <a:xfrm>
            <a:off x="6371049" y="1374012"/>
            <a:ext cx="5153728" cy="2016390"/>
          </a:xfrm>
          <a:prstGeom prst="rect">
            <a:avLst/>
          </a:prstGeom>
          <a:noFill/>
        </p:spPr>
        <p:txBody>
          <a:bodyPr wrap="square" lIns="0" tIns="0" rIns="0" bIns="0" rtlCol="0" anchor="t">
            <a:normAutofit/>
          </a:bodyPr>
          <a:lstStyle/>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Creating a Borrowing has no rules beyond its constructors: BorrowPeriod validates itself and Borrowing checks its own contents (BR3)</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A factory would only wrap a simple constructor, adding a pattern without a reason</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We would add one if creation needed several steps at once, such as generating an ID, loading equipment and checking availability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Repositories</a:t>
            </a:r>
            <a:endParaRPr lang="en-US" sz="2800" dirty="0"/>
          </a:p>
        </p:txBody>
      </p:sp>
      <p:graphicFrame>
        <p:nvGraphicFramePr>
          <p:cNvPr id="3" name="Table 0"/>
          <p:cNvGraphicFramePr>
            <a:graphicFrameLocks noGrp="1"/>
          </p:cNvGraphicFramePr>
          <p:nvPr/>
        </p:nvGraphicFramePr>
        <p:xfrm>
          <a:off x="823350" y="1062054"/>
          <a:ext cx="10555883" cy="1418332"/>
        </p:xfrm>
        <a:graphic>
          <a:graphicData uri="http://schemas.openxmlformats.org/drawingml/2006/table">
            <a:tbl>
              <a:tblPr/>
              <a:tblGrid>
                <a:gridCol w="2322294"/>
                <a:gridCol w="3166765"/>
                <a:gridCol w="1900059"/>
                <a:gridCol w="3166765"/>
              </a:tblGrid>
              <a:tr h="330564">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Repository (Application)</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In-memory version (Infrastructure)</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Stores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Used by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BorrowingRepository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InMemoryBorrowingRepository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 roots (Aggregate A)</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ApproveBorrowingService (BR6 lookup)</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EquipmentRepository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InMemoryEquipmentRepository</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Equipment roots (Aggregate B)</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CheckOutEquipmentOnApproval handler</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910049" y="2683535"/>
            <a:ext cx="10778558" cy="1269768"/>
          </a:xfrm>
          <a:prstGeom prst="rect">
            <a:avLst/>
          </a:prstGeom>
          <a:noFill/>
        </p:spPr>
        <p:txBody>
          <a:bodyPr wrap="square" lIns="0" tIns="0" rIns="0" bIns="0" rtlCol="0" anchor="t">
            <a:normAutofit/>
          </a:bodyPr>
          <a:lstStyle/>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One repository per aggregate root used in the workflow; none for the value object or the domain service</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The abstractions live in Application because the use case needs them; Infrastructure implements them, so the dependency points inward</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The in-memory versions are dictionaries keyed by ID; get() returns nothing when the ID is missing</a:t>
            </a:r>
            <a:endParaRPr lang="en-US" sz="1400" dirty="0"/>
          </a:p>
          <a:p>
            <a:pPr marL="156845" indent="-156845" algn="l">
              <a:lnSpc>
                <a:spcPts val="1960"/>
              </a:lnSpc>
              <a:buSzPct val="100000"/>
              <a:buChar char="•"/>
            </a:pPr>
            <a:r>
              <a:rPr lang="en-US" sz="1400" dirty="0">
                <a:solidFill>
                  <a:srgbClr val="000000"/>
                </a:solidFill>
                <a:latin typeface="Arial" panose="020B0604020202020204" pitchFamily="34" charset="0"/>
                <a:ea typeface="Arial" panose="020B0604020202020204" pitchFamily="34" charset="-122"/>
                <a:cs typeface="Arial" panose="020B0604020202020204" pitchFamily="34" charset="-120"/>
              </a:rPr>
              <a:t>Moving to a database later would change only Infrastructure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Clean Architecture diagram</a:t>
            </a:r>
            <a:endParaRPr lang="en-US" sz="2800" dirty="0"/>
          </a:p>
        </p:txBody>
      </p:sp>
      <p:sp>
        <p:nvSpPr>
          <p:cNvPr id="3" name="Shape 1"/>
          <p:cNvSpPr/>
          <p:nvPr/>
        </p:nvSpPr>
        <p:spPr>
          <a:xfrm>
            <a:off x="819117" y="1657350"/>
            <a:ext cx="2781300" cy="1765300"/>
          </a:xfrm>
          <a:prstGeom prst="rect">
            <a:avLst/>
          </a:prstGeom>
          <a:noFill/>
          <a:ln w="12700">
            <a:solidFill>
              <a:srgbClr val="000000"/>
            </a:solidFill>
            <a:prstDash val="solid"/>
          </a:ln>
        </p:spPr>
      </p:sp>
      <p:sp>
        <p:nvSpPr>
          <p:cNvPr id="4" name="Text 2"/>
          <p:cNvSpPr/>
          <p:nvPr/>
        </p:nvSpPr>
        <p:spPr>
          <a:xfrm>
            <a:off x="950350" y="1788582"/>
            <a:ext cx="259439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00000"/>
                </a:solidFill>
                <a:latin typeface="Arial" panose="020B0604020202020204" pitchFamily="34" charset="0"/>
                <a:ea typeface="Arial" panose="020B0604020202020204" pitchFamily="34" charset="-122"/>
                <a:cs typeface="Arial" panose="020B0604020202020204" pitchFamily="34" charset="-120"/>
              </a:rPr>
              <a:t>Interface</a:t>
            </a:r>
            <a:endParaRPr lang="en-US" sz="1600" dirty="0"/>
          </a:p>
        </p:txBody>
      </p:sp>
      <p:sp>
        <p:nvSpPr>
          <p:cNvPr id="5" name="Text 3"/>
          <p:cNvSpPr/>
          <p:nvPr/>
        </p:nvSpPr>
        <p:spPr>
          <a:xfrm>
            <a:off x="950350" y="2095912"/>
            <a:ext cx="2594398"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main.py (console)</a:t>
            </a:r>
            <a:endParaRPr lang="en-US" sz="1200" dirty="0"/>
          </a:p>
        </p:txBody>
      </p:sp>
      <p:sp>
        <p:nvSpPr>
          <p:cNvPr id="6" name="Shape 4"/>
          <p:cNvSpPr/>
          <p:nvPr/>
        </p:nvSpPr>
        <p:spPr>
          <a:xfrm>
            <a:off x="4705350" y="1657350"/>
            <a:ext cx="2781300" cy="1765300"/>
          </a:xfrm>
          <a:prstGeom prst="rect">
            <a:avLst/>
          </a:prstGeom>
          <a:noFill/>
          <a:ln w="12700">
            <a:solidFill>
              <a:srgbClr val="000000"/>
            </a:solidFill>
            <a:prstDash val="solid"/>
          </a:ln>
        </p:spPr>
      </p:sp>
      <p:sp>
        <p:nvSpPr>
          <p:cNvPr id="7" name="Text 5"/>
          <p:cNvSpPr/>
          <p:nvPr/>
        </p:nvSpPr>
        <p:spPr>
          <a:xfrm>
            <a:off x="4836583" y="1788582"/>
            <a:ext cx="259439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00000"/>
                </a:solidFill>
                <a:latin typeface="Arial" panose="020B0604020202020204" pitchFamily="34" charset="0"/>
                <a:ea typeface="Arial" panose="020B0604020202020204" pitchFamily="34" charset="-122"/>
                <a:cs typeface="Arial" panose="020B0604020202020204" pitchFamily="34" charset="-120"/>
              </a:rPr>
              <a:t>Application</a:t>
            </a:r>
            <a:endParaRPr lang="en-US" sz="1600" dirty="0"/>
          </a:p>
        </p:txBody>
      </p:sp>
      <p:sp>
        <p:nvSpPr>
          <p:cNvPr id="8" name="Text 6"/>
          <p:cNvSpPr/>
          <p:nvPr/>
        </p:nvSpPr>
        <p:spPr>
          <a:xfrm>
            <a:off x="4836583" y="2095912"/>
            <a:ext cx="2594398" cy="87868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ApproveBorrowingService, DTOs, repository and dispatcher interfaces, CheckOutEquipmentOnApproval handler</a:t>
            </a:r>
            <a:endParaRPr lang="en-US" sz="1200" dirty="0"/>
          </a:p>
        </p:txBody>
      </p:sp>
      <p:sp>
        <p:nvSpPr>
          <p:cNvPr id="9" name="Shape 7"/>
          <p:cNvSpPr/>
          <p:nvPr/>
        </p:nvSpPr>
        <p:spPr>
          <a:xfrm>
            <a:off x="8591500" y="1657350"/>
            <a:ext cx="2781300" cy="1765300"/>
          </a:xfrm>
          <a:prstGeom prst="rect">
            <a:avLst/>
          </a:prstGeom>
          <a:noFill/>
          <a:ln w="12700">
            <a:solidFill>
              <a:srgbClr val="000000"/>
            </a:solidFill>
            <a:prstDash val="solid"/>
          </a:ln>
        </p:spPr>
      </p:sp>
      <p:sp>
        <p:nvSpPr>
          <p:cNvPr id="10" name="Text 8"/>
          <p:cNvSpPr/>
          <p:nvPr/>
        </p:nvSpPr>
        <p:spPr>
          <a:xfrm>
            <a:off x="8722733" y="1788582"/>
            <a:ext cx="259439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00000"/>
                </a:solidFill>
                <a:latin typeface="Arial" panose="020B0604020202020204" pitchFamily="34" charset="0"/>
                <a:ea typeface="Arial" panose="020B0604020202020204" pitchFamily="34" charset="-122"/>
                <a:cs typeface="Arial" panose="020B0604020202020204" pitchFamily="34" charset="-120"/>
              </a:rPr>
              <a:t>Domain</a:t>
            </a:r>
            <a:endParaRPr lang="en-US" sz="1600" dirty="0"/>
          </a:p>
        </p:txBody>
      </p:sp>
      <p:sp>
        <p:nvSpPr>
          <p:cNvPr id="11" name="Text 9"/>
          <p:cNvSpPr/>
          <p:nvPr/>
        </p:nvSpPr>
        <p:spPr>
          <a:xfrm>
            <a:off x="8722733" y="2095912"/>
            <a:ext cx="2594398" cy="87868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BorrowPeriod, Borrowing, Equipment, LateReturnPolicy, BorrowingApproved, exceptions, Entity, AggregateRoot</a:t>
            </a:r>
            <a:endParaRPr lang="en-US" sz="1200" dirty="0"/>
          </a:p>
        </p:txBody>
      </p:sp>
      <p:sp>
        <p:nvSpPr>
          <p:cNvPr id="12" name="Shape 10"/>
          <p:cNvSpPr/>
          <p:nvPr/>
        </p:nvSpPr>
        <p:spPr>
          <a:xfrm>
            <a:off x="4705350" y="4260850"/>
            <a:ext cx="2781300" cy="1257300"/>
          </a:xfrm>
          <a:prstGeom prst="rect">
            <a:avLst/>
          </a:prstGeom>
          <a:noFill/>
          <a:ln w="12700">
            <a:solidFill>
              <a:srgbClr val="000000"/>
            </a:solidFill>
            <a:prstDash val="solid"/>
          </a:ln>
        </p:spPr>
      </p:sp>
      <p:sp>
        <p:nvSpPr>
          <p:cNvPr id="13" name="Text 11"/>
          <p:cNvSpPr/>
          <p:nvPr/>
        </p:nvSpPr>
        <p:spPr>
          <a:xfrm>
            <a:off x="4836583" y="4392079"/>
            <a:ext cx="2594398"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000000"/>
                </a:solidFill>
                <a:latin typeface="Arial" panose="020B0604020202020204" pitchFamily="34" charset="0"/>
                <a:ea typeface="Arial" panose="020B0604020202020204" pitchFamily="34" charset="-122"/>
                <a:cs typeface="Arial" panose="020B0604020202020204" pitchFamily="34" charset="-120"/>
              </a:rPr>
              <a:t>Infrastructure</a:t>
            </a:r>
            <a:endParaRPr lang="en-US" sz="1600" dirty="0"/>
          </a:p>
        </p:txBody>
      </p:sp>
      <p:sp>
        <p:nvSpPr>
          <p:cNvPr id="14" name="Text 12"/>
          <p:cNvSpPr/>
          <p:nvPr/>
        </p:nvSpPr>
        <p:spPr>
          <a:xfrm>
            <a:off x="4836583" y="4699409"/>
            <a:ext cx="2594398" cy="45204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In-memory repositories, in-process event dispatcher</a:t>
            </a:r>
            <a:endParaRPr lang="en-US" sz="1200" dirty="0"/>
          </a:p>
        </p:txBody>
      </p:sp>
      <p:pic>
        <p:nvPicPr>
          <p:cNvPr id="15" name="Image 0" descr="connector"/>
          <p:cNvPicPr>
            <a:picLocks noChangeAspect="1"/>
          </p:cNvPicPr>
          <p:nvPr/>
        </p:nvPicPr>
        <p:blipFill>
          <a:blip r:embed="rId1"/>
          <a:srcRect l="-31" r="-31"/>
          <a:stretch>
            <a:fillRect/>
          </a:stretch>
        </p:blipFill>
        <p:spPr>
          <a:xfrm>
            <a:off x="3556000" y="2489150"/>
            <a:ext cx="1193767" cy="101534"/>
          </a:xfrm>
          <a:prstGeom prst="rect">
            <a:avLst/>
          </a:prstGeom>
        </p:spPr>
      </p:pic>
      <p:pic>
        <p:nvPicPr>
          <p:cNvPr id="16" name="Image 1" descr="connector"/>
          <p:cNvPicPr>
            <a:picLocks noChangeAspect="1"/>
          </p:cNvPicPr>
          <p:nvPr/>
        </p:nvPicPr>
        <p:blipFill>
          <a:blip r:embed="rId1"/>
          <a:srcRect l="-31" r="-31"/>
          <a:stretch>
            <a:fillRect/>
          </a:stretch>
        </p:blipFill>
        <p:spPr>
          <a:xfrm>
            <a:off x="7442150" y="2489150"/>
            <a:ext cx="1193767" cy="101534"/>
          </a:xfrm>
          <a:prstGeom prst="rect">
            <a:avLst/>
          </a:prstGeom>
        </p:spPr>
      </p:pic>
      <p:pic>
        <p:nvPicPr>
          <p:cNvPr id="17" name="Image 2" descr="connector"/>
          <p:cNvPicPr>
            <a:picLocks noChangeAspect="1"/>
          </p:cNvPicPr>
          <p:nvPr/>
        </p:nvPicPr>
        <p:blipFill>
          <a:blip r:embed="rId2"/>
          <a:srcRect t="-29" b="-29"/>
          <a:stretch>
            <a:fillRect/>
          </a:stretch>
        </p:blipFill>
        <p:spPr>
          <a:xfrm>
            <a:off x="6045150" y="3378150"/>
            <a:ext cx="101534" cy="927034"/>
          </a:xfrm>
          <a:prstGeom prst="rect">
            <a:avLst/>
          </a:prstGeom>
        </p:spPr>
      </p:pic>
      <p:pic>
        <p:nvPicPr>
          <p:cNvPr id="18" name="Image 3" descr="connector"/>
          <p:cNvPicPr>
            <a:picLocks noChangeAspect="1"/>
          </p:cNvPicPr>
          <p:nvPr/>
        </p:nvPicPr>
        <p:blipFill>
          <a:blip r:embed="rId3"/>
          <a:srcRect l="-1" r="-1"/>
          <a:stretch>
            <a:fillRect/>
          </a:stretch>
        </p:blipFill>
        <p:spPr>
          <a:xfrm>
            <a:off x="2159000" y="3378150"/>
            <a:ext cx="2590767" cy="1562034"/>
          </a:xfrm>
          <a:prstGeom prst="rect">
            <a:avLst/>
          </a:prstGeom>
        </p:spPr>
      </p:pic>
      <p:pic>
        <p:nvPicPr>
          <p:cNvPr id="19" name="Image 4" descr="connector"/>
          <p:cNvPicPr>
            <a:picLocks noChangeAspect="1"/>
          </p:cNvPicPr>
          <p:nvPr/>
        </p:nvPicPr>
        <p:blipFill>
          <a:blip r:embed="rId4"/>
          <a:srcRect l="-1" r="-1"/>
          <a:stretch>
            <a:fillRect/>
          </a:stretch>
        </p:blipFill>
        <p:spPr>
          <a:xfrm>
            <a:off x="7442150" y="3378150"/>
            <a:ext cx="2590767" cy="1562034"/>
          </a:xfrm>
          <a:prstGeom prst="rect">
            <a:avLst/>
          </a:prstGeom>
        </p:spPr>
      </p:pic>
      <p:sp>
        <p:nvSpPr>
          <p:cNvPr id="20" name="Text 13"/>
          <p:cNvSpPr/>
          <p:nvPr/>
        </p:nvSpPr>
        <p:spPr>
          <a:xfrm>
            <a:off x="812767" y="6238292"/>
            <a:ext cx="10883374"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Arrows mean "imports from". Every arrow points toward Domain, and business rules live only in Domain.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p:nvPr>
        </p:nvSpPr>
        <p:spPr>
          <a:xfrm>
            <a:off x="812767" y="457150"/>
            <a:ext cx="10883460" cy="416570"/>
          </a:xfrm>
          <a:prstGeom prst="rect">
            <a:avLst/>
          </a:prstGeom>
          <a:noFill/>
        </p:spPr>
        <p:txBody>
          <a:bodyPr wrap="square" lIns="0" tIns="0" rIns="0" bIns="0" rtlCol="0" anchor="t">
            <a:normAutofit/>
          </a:bodyPr>
          <a:lstStyle/>
          <a:p>
            <a:pPr marL="0" indent="0" algn="l">
              <a:lnSpc>
                <a:spcPts val="3080"/>
              </a:lnSpc>
              <a:buNone/>
            </a:pPr>
            <a:r>
              <a:rPr lang="en-US" sz="2800" b="1" i="0" dirty="0">
                <a:solidFill>
                  <a:srgbClr val="000000"/>
                </a:solidFill>
                <a:latin typeface="Arial" panose="020B0604020202020204" pitchFamily="34" charset="0"/>
                <a:ea typeface="Arial" panose="020B0604020202020204" pitchFamily="34" charset="-122"/>
                <a:cs typeface="Arial" panose="020B0604020202020204" pitchFamily="34" charset="-120"/>
              </a:rPr>
              <a:t>Application Service, DTOs and dependency injection</a:t>
            </a:r>
            <a:endParaRPr lang="en-US" sz="2800" dirty="0"/>
          </a:p>
        </p:txBody>
      </p:sp>
      <p:sp>
        <p:nvSpPr>
          <p:cNvPr id="3" name="Text 1"/>
          <p:cNvSpPr/>
          <p:nvPr/>
        </p:nvSpPr>
        <p:spPr>
          <a:xfrm>
            <a:off x="812767" y="1026083"/>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ApproveBorrowingService (coordination only)</a:t>
            </a:r>
            <a:endParaRPr lang="en-US" sz="1700" dirty="0"/>
          </a:p>
        </p:txBody>
      </p:sp>
      <p:sp>
        <p:nvSpPr>
          <p:cNvPr id="4" name="Text 2"/>
          <p:cNvSpPr/>
          <p:nvPr/>
        </p:nvSpPr>
        <p:spPr>
          <a:xfrm>
            <a:off x="883130" y="1374012"/>
            <a:ext cx="5180647" cy="1643079"/>
          </a:xfrm>
          <a:prstGeom prst="rect">
            <a:avLst/>
          </a:prstGeom>
          <a:noFill/>
        </p:spPr>
        <p:txBody>
          <a:bodyPr wrap="square" lIns="0" tIns="0" rIns="0" bIns="0" rtlCol="0" anchor="t">
            <a:normAutofit/>
          </a:bodyPr>
          <a:lstStyle/>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Receive ApproveBorrowingRequest</a:t>
            </a:r>
            <a:endParaRPr lang="en-US" sz="1300" dirty="0"/>
          </a:p>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Look up the borrowing (BR6); if missing, return BORROWING_NOT_FOUND</a:t>
            </a:r>
            <a:endParaRPr lang="en-US" sz="1300" dirty="0"/>
          </a:p>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Call borrowing.approve(); the aggregate enforces BR2 and BR3</a:t>
            </a:r>
            <a:endParaRPr lang="en-US" sz="1300" dirty="0"/>
          </a:p>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Save the borrowing</a:t>
            </a:r>
            <a:endParaRPr lang="en-US" sz="1300" dirty="0"/>
          </a:p>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Dispatch the BorrowingApproved event (BR5)</a:t>
            </a:r>
            <a:endParaRPr lang="en-US" sz="1300" dirty="0"/>
          </a:p>
          <a:p>
            <a:pPr marL="183515" indent="-183515" algn="l">
              <a:lnSpc>
                <a:spcPts val="1820"/>
              </a:lnSpc>
              <a:buSzPct val="100000"/>
              <a:buFontTx/>
              <a:buAutoNum type="arabicPeriod"/>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Return ApproveBorrowingResponse</a:t>
            </a:r>
            <a:endParaRPr lang="en-US" sz="1300" dirty="0"/>
          </a:p>
        </p:txBody>
      </p:sp>
      <p:sp>
        <p:nvSpPr>
          <p:cNvPr id="5" name="Text 3"/>
          <p:cNvSpPr/>
          <p:nvPr/>
        </p:nvSpPr>
        <p:spPr>
          <a:xfrm>
            <a:off x="812767" y="3080575"/>
            <a:ext cx="5258630" cy="48759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No business rules here; it only converts domain exceptions into outcomes.</a:t>
            </a:r>
            <a:endParaRPr lang="en-US" sz="1300" dirty="0"/>
          </a:p>
        </p:txBody>
      </p:sp>
      <p:sp>
        <p:nvSpPr>
          <p:cNvPr id="6" name="Text 4"/>
          <p:cNvSpPr/>
          <p:nvPr/>
        </p:nvSpPr>
        <p:spPr>
          <a:xfrm>
            <a:off x="812767" y="3631654"/>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Layer Supertype: used</a:t>
            </a:r>
            <a:endParaRPr lang="en-US" sz="1700" dirty="0"/>
          </a:p>
        </p:txBody>
      </p:sp>
      <p:sp>
        <p:nvSpPr>
          <p:cNvPr id="7" name="Text 5"/>
          <p:cNvSpPr/>
          <p:nvPr/>
        </p:nvSpPr>
        <p:spPr>
          <a:xfrm>
            <a:off x="812767" y="3979577"/>
            <a:ext cx="5258630" cy="48759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Entity and AggregateRoot are shared base classes in Domain; Borrowing and Equipment extend AggregateRoot.</a:t>
            </a:r>
            <a:endParaRPr lang="en-US" sz="1300" dirty="0"/>
          </a:p>
        </p:txBody>
      </p:sp>
      <p:sp>
        <p:nvSpPr>
          <p:cNvPr id="8" name="Text 6"/>
          <p:cNvSpPr/>
          <p:nvPr/>
        </p:nvSpPr>
        <p:spPr>
          <a:xfrm>
            <a:off x="6273767" y="1026083"/>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DTOs</a:t>
            </a:r>
            <a:endParaRPr lang="en-US" sz="1700" dirty="0"/>
          </a:p>
        </p:txBody>
      </p:sp>
      <p:graphicFrame>
        <p:nvGraphicFramePr>
          <p:cNvPr id="9" name="Table 0"/>
          <p:cNvGraphicFramePr>
            <a:graphicFrameLocks noGrp="1"/>
          </p:cNvGraphicFramePr>
          <p:nvPr/>
        </p:nvGraphicFramePr>
        <p:xfrm>
          <a:off x="6284350" y="1384596"/>
          <a:ext cx="5094883" cy="1205012"/>
        </p:xfrm>
        <a:graphic>
          <a:graphicData uri="http://schemas.openxmlformats.org/drawingml/2006/table">
            <a:tbl>
              <a:tblPr/>
              <a:tblGrid>
                <a:gridCol w="2547441"/>
                <a:gridCol w="2547441"/>
              </a:tblGrid>
              <a:tr h="330564">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DTO</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000000"/>
                          </a:solidFill>
                          <a:latin typeface="Arial" panose="020B0604020202020204" pitchFamily="34" charset="0"/>
                          <a:ea typeface="Arial" panose="020B0604020202020204" pitchFamily="34" charset="-122"/>
                          <a:cs typeface="Arial" panose="020B0604020202020204" pitchFamily="34" charset="-120"/>
                        </a:rPr>
                        <a:t>Fields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56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ApproveBorrowingRequest (input)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borrowing_id</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3884">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ApproveBorrowingResponse (output)</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borrowing_id, outcome, status</a:t>
                      </a:r>
                      <a:endParaRPr lang="en-US" sz="1200" dirty="0">
                        <a:latin typeface="Arial" panose="020B0604020202020204" pitchFamily="34" charset="0"/>
                        <a:ea typeface="Arial" panose="020B0604020202020204" pitchFamily="34" charset="0"/>
                        <a:cs typeface="Arial" panose="020B0604020202020204" pitchFamily="34"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6273767" y="2678491"/>
            <a:ext cx="5258630" cy="665361"/>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000000"/>
                </a:solidFill>
                <a:latin typeface="Arial" panose="020B0604020202020204" pitchFamily="34" charset="0"/>
                <a:ea typeface="Arial" panose="020B0604020202020204" pitchFamily="34" charset="-122"/>
                <a:cs typeface="Arial" panose="020B0604020202020204" pitchFamily="34" charset="-120"/>
              </a:rPr>
              <a:t>Outcomes: APPROVED_AND_CHECKED_OUT, APPROVED_BUT_CHECKOUT_FAILED, BORROWING_NOT_FOUND, INVALID_STATE</a:t>
            </a:r>
            <a:endParaRPr lang="en-US" sz="1200" dirty="0"/>
          </a:p>
        </p:txBody>
      </p:sp>
      <p:sp>
        <p:nvSpPr>
          <p:cNvPr id="11" name="Text 8"/>
          <p:cNvSpPr/>
          <p:nvPr/>
        </p:nvSpPr>
        <p:spPr>
          <a:xfrm>
            <a:off x="6273767" y="3407333"/>
            <a:ext cx="5258630" cy="284444"/>
          </a:xfrm>
          <a:prstGeom prst="rect">
            <a:avLst/>
          </a:prstGeom>
          <a:noFill/>
        </p:spPr>
        <p:txBody>
          <a:bodyPr wrap="square" lIns="0" tIns="0" rIns="0" bIns="0" rtlCol="0" anchor="t">
            <a:normAutofit/>
          </a:bodyPr>
          <a:lstStyle/>
          <a:p>
            <a:pPr marL="0" indent="0" algn="l">
              <a:lnSpc>
                <a:spcPts val="2040"/>
              </a:lnSpc>
              <a:buNone/>
            </a:pPr>
            <a:r>
              <a:rPr lang="en-US" sz="1700" b="1" dirty="0">
                <a:solidFill>
                  <a:srgbClr val="000000"/>
                </a:solidFill>
                <a:latin typeface="Arial" panose="020B0604020202020204" pitchFamily="34" charset="0"/>
                <a:ea typeface="Arial" panose="020B0604020202020204" pitchFamily="34" charset="-122"/>
                <a:cs typeface="Arial" panose="020B0604020202020204" pitchFamily="34" charset="-120"/>
              </a:rPr>
              <a:t>Dependency injection</a:t>
            </a:r>
            <a:endParaRPr lang="en-US" sz="1700" dirty="0"/>
          </a:p>
        </p:txBody>
      </p:sp>
      <p:sp>
        <p:nvSpPr>
          <p:cNvPr id="12" name="Text 9"/>
          <p:cNvSpPr/>
          <p:nvPr/>
        </p:nvSpPr>
        <p:spPr>
          <a:xfrm>
            <a:off x="6371811" y="3755262"/>
            <a:ext cx="5152966" cy="949788"/>
          </a:xfrm>
          <a:prstGeom prst="rect">
            <a:avLst/>
          </a:prstGeom>
          <a:noFill/>
        </p:spPr>
        <p:txBody>
          <a:bodyPr wrap="square" lIns="0" tIns="0" rIns="0" bIns="0" rtlCol="0" anchor="t">
            <a:normAutofit/>
          </a:bodyPr>
          <a:lstStyle/>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Repositories and the dispatcher are passed into the service constructor, never created inside it</a:t>
            </a:r>
            <a:endParaRPr lang="en-US" sz="1300" dirty="0"/>
          </a:p>
          <a:p>
            <a:pPr marL="156210" indent="-156210" algn="l">
              <a:lnSpc>
                <a:spcPts val="1820"/>
              </a:lnSpc>
              <a:buSzPct val="100000"/>
              <a:buChar char="•"/>
            </a:pPr>
            <a:r>
              <a:rPr lang="en-US" sz="1300" dirty="0">
                <a:solidFill>
                  <a:srgbClr val="000000"/>
                </a:solidFill>
                <a:latin typeface="Arial" panose="020B0604020202020204" pitchFamily="34" charset="0"/>
                <a:ea typeface="Arial" panose="020B0604020202020204" pitchFamily="34" charset="-122"/>
                <a:cs typeface="Arial" panose="020B0604020202020204" pitchFamily="34" charset="-120"/>
              </a:rPr>
              <a:t>main.py builds the in-memory versions and injects them; the tests do the same with fresh copies</a:t>
            </a:r>
            <a:endParaRPr lang="en-US" sz="1300" dirty="0"/>
          </a:p>
        </p:txBody>
      </p:sp>
    </p:spTree>
  </p:cSld>
  <p:clrMapOvr>
    <a:masterClrMapping/>
  </p:clrMapOvr>
</p:sld>
</file>

<file path=ppt/theme/theme1.xml><?xml version="1.0" encoding="utf-8"?>
<a:theme xmlns:a="http://schemas.openxmlformats.org/drawingml/2006/main" name="Equipment Borrowing Slides 1-9">
  <a:themeElements>
    <a:clrScheme name="Equipment Borrowing Slides 1-9">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Equipment Borrowing Slides 1-9">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pment Borrowing Slides 1-9">
  <a:themeElements>
    <a:clrScheme name="Equipment Borrowing Slides 1-9">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Equipment Borrowing Slides 1-9">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6411</Words>
  <Application>WPS Presentation</Application>
  <PresentationFormat>On-screen Show (16:9)</PresentationFormat>
  <Paragraphs>338</Paragraphs>
  <Slides>9</Slides>
  <Notes>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Arial</vt:lpstr>
      <vt:lpstr>Arial</vt:lpstr>
      <vt:lpstr>Microsoft YaHei</vt:lpstr>
      <vt:lpstr>Arial Unicode MS</vt:lpstr>
      <vt:lpstr>Calibri</vt:lpstr>
      <vt:lpstr>Equipment Borrowing Slides 1-9</vt:lpstr>
      <vt:lpstr>Equipment Borrowing</vt:lpstr>
      <vt:lpstr>Problem, scope, exclusions and key terms</vt:lpstr>
      <vt:lpstr>Business rules BR1-BR6</vt:lpstr>
      <vt:lpstr>Value Object and Entity choices</vt:lpstr>
      <vt:lpstr>Aggregates A and B</vt:lpstr>
      <vt:lpstr>Domain Service and Factory decision</vt:lpstr>
      <vt:lpstr>Repositories</vt:lpstr>
      <vt:lpstr>Clean Architecture diagram</vt:lpstr>
      <vt:lpstr>Application Service, DTOs and dependency injection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Equipment Borrowing Slides 1-9</dc:title>
  <dc:creator/>
  <cp:lastModifiedBy>rugum</cp:lastModifiedBy>
  <cp:revision>2</cp:revision>
  <dcterms:created xsi:type="dcterms:W3CDTF">2026-10-09T09:39:00Z</dcterms:created>
  <dcterms:modified xsi:type="dcterms:W3CDTF">2026-10-09T09:56:22Z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54E043DBBC9442E8B1BB9AF2A1A66442_12</vt:lpwstr>
  </property>
</Properties>
</file>